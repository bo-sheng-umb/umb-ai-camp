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rts/chart1.xml" ContentType="application/vnd.openxmlformats-officedocument.drawingml.chart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85" r:id="rId4"/>
    <p:sldId id="286" r:id="rId5"/>
    <p:sldId id="258" r:id="rId6"/>
    <p:sldId id="259" r:id="rId7"/>
    <p:sldId id="260" r:id="rId8"/>
    <p:sldId id="287" r:id="rId9"/>
    <p:sldId id="261" r:id="rId10"/>
    <p:sldId id="305" r:id="rId11"/>
    <p:sldId id="262" r:id="rId12"/>
    <p:sldId id="304" r:id="rId13"/>
    <p:sldId id="263" r:id="rId14"/>
    <p:sldId id="264" r:id="rId15"/>
    <p:sldId id="288" r:id="rId16"/>
    <p:sldId id="289" r:id="rId17"/>
    <p:sldId id="265" r:id="rId18"/>
    <p:sldId id="290" r:id="rId19"/>
    <p:sldId id="291" r:id="rId20"/>
    <p:sldId id="292" r:id="rId21"/>
    <p:sldId id="266" r:id="rId22"/>
    <p:sldId id="267" r:id="rId23"/>
    <p:sldId id="268" r:id="rId24"/>
    <p:sldId id="269" r:id="rId25"/>
    <p:sldId id="270" r:id="rId26"/>
    <p:sldId id="293" r:id="rId27"/>
    <p:sldId id="271" r:id="rId28"/>
    <p:sldId id="294" r:id="rId29"/>
    <p:sldId id="272" r:id="rId30"/>
    <p:sldId id="295" r:id="rId31"/>
    <p:sldId id="296" r:id="rId32"/>
    <p:sldId id="297" r:id="rId33"/>
    <p:sldId id="273" r:id="rId34"/>
    <p:sldId id="274" r:id="rId35"/>
    <p:sldId id="275" r:id="rId36"/>
    <p:sldId id="298" r:id="rId37"/>
    <p:sldId id="276" r:id="rId38"/>
    <p:sldId id="299" r:id="rId39"/>
    <p:sldId id="277" r:id="rId40"/>
    <p:sldId id="300" r:id="rId41"/>
    <p:sldId id="278" r:id="rId42"/>
    <p:sldId id="279" r:id="rId43"/>
    <p:sldId id="306" r:id="rId44"/>
    <p:sldId id="301" r:id="rId45"/>
    <p:sldId id="280" r:id="rId46"/>
    <p:sldId id="281" r:id="rId47"/>
    <p:sldId id="302" r:id="rId48"/>
    <p:sldId id="307" r:id="rId49"/>
    <p:sldId id="282" r:id="rId50"/>
    <p:sldId id="309" r:id="rId51"/>
    <p:sldId id="303" r:id="rId52"/>
    <p:sldId id="308" r:id="rId53"/>
    <p:sldId id="283" r:id="rId54"/>
    <p:sldId id="284" r:id="rId5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464AEC-16EF-43BF-8827-7ECB61B6086D}" v="1" dt="2026-08-05T05:09:02.1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08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 Sheng" userId="cc601f15-23f8-4cfe-b718-7573c20941d7" providerId="ADAL" clId="{60CA768E-AC02-417B-940B-354FBF1E68EB}"/>
    <pc:docChg chg="modSld">
      <pc:chgData name="Bo Sheng" userId="cc601f15-23f8-4cfe-b718-7573c20941d7" providerId="ADAL" clId="{60CA768E-AC02-417B-940B-354FBF1E68EB}" dt="2026-08-05T05:09:03.681" v="1"/>
      <pc:docMkLst>
        <pc:docMk/>
      </pc:docMkLst>
      <pc:sldChg chg="addSp delSp modSp">
        <pc:chgData name="Bo Sheng" userId="cc601f15-23f8-4cfe-b718-7573c20941d7" providerId="ADAL" clId="{60CA768E-AC02-417B-940B-354FBF1E68EB}" dt="2026-08-05T05:09:03.681" v="1"/>
        <pc:sldMkLst>
          <pc:docMk/>
          <pc:sldMk cId="0" sldId="288"/>
        </pc:sldMkLst>
        <pc:spChg chg="add del mod">
          <ac:chgData name="Bo Sheng" userId="cc601f15-23f8-4cfe-b718-7573c20941d7" providerId="ADAL" clId="{60CA768E-AC02-417B-940B-354FBF1E68EB}" dt="2026-08-05T05:09:03.681" v="1"/>
          <ac:spMkLst>
            <pc:docMk/>
            <pc:sldMk cId="0" sldId="288"/>
            <ac:spMk id="66" creationId="{CFEAB234-73DF-27EB-D85D-6CF6C1CAB31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cube</c:v>
                </c:pt>
                <c:pt idx="1">
                  <c:v>cylinder</c:v>
                </c:pt>
                <c:pt idx="2">
                  <c:v>panda</c:v>
                </c:pt>
                <c:pt idx="3">
                  <c:v>none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0.95</c:v>
                </c:pt>
                <c:pt idx="1">
                  <c:v>0.75</c:v>
                </c:pt>
                <c:pt idx="2">
                  <c:v>0.92</c:v>
                </c:pt>
                <c:pt idx="3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77-4E96-BECE-61A9F548FF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982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with the Wednesday classifier notebook. Today: train your own recognizer with transfer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Yesterday gave the fundamentals; today applies them to real images with a pretrained head-start.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returners: this maps last week onto this week — you already have the training loop, the train/test split, and a neural net. New students: the next slide catches you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On-ramp for new students; returners can skim. These three ideas are exactly the Week 1 material and are recapped in the prep packet.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difficulty; transfer learning will be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intuition for image difficulty before the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of the input drives home why we need something smarter than the plain network from Tuesday.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150,000 inputs x ~128 hidden units is roughly 19M weights in the first layer alone. Compare Week 1's lemonade net with a handful of inputs. That explosion is why we need convolution.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Hand-written rules can't cover this explosion of variation — which is exactly why we learn from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 motivation before the mechanics. Every example is the same 'image in, label out' task the students are building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feature idea and convolution.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Frames the next stretch as review — students built a CNN from scratch in Tuesday's Lab 2, so treat convolution/pooling/ReLU as a quick recap, then pivot to what's new today: transfer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one tells it what an edge or a handle is — it discovers this hierarchy from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filter (kernel) is a tiny weight grid slid across the image; a match lights up the feature map. Same filter everywhere = it can find the pattern anywhere. This is a CNN (convolutional neural network).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one position: element-wise multiply the filter with the patch under it, then sum to a single number. High = the pattern is present. Slide across the image to build the whole feature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Bridges convolution to depth: one filter makes one feature map; a conv layer outputs a stack of maps that feed the next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filters are learned weights, tuned by the same training loop from Tuesday.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Max pooling keeps the strongest response in each window and typically halves the map size. Fewer numbers, less position-sensitivity, faster on a Pi — ties to Thursday.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conv-then-pool block, repeated. Spatial size shrinks while the number of feature channels grows, so meaning deepens.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ReLU from Tuesday's MNIST net. Without a non-linearity, stacked linear layers collapse to one — ReLU is what lets a deep net bend.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Weight-sharing + locality = the two big wins. This is why every modern vision model is convolutional (or a related idea).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centerpiece of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gap feel real, then reveal transfer learning as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Freeze the backbone, replace the head, train the head. This is exactly what the notebook does with MobileNet.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a few thousand parameters train, which is why it finishes in minutes on little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intuition behind transfer learning, and a callback to Week 1's K-Means: similar things share structure, so learned features reuse across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someone who can already draw learns a new subject fast — they reuse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ImageNet is ~1.2M images across 1,000 categories. Pretraining there is why MobileNet's features transfer to your objects with only ~50 photos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picked MobileNet deliberately: choosing it now makes the edge deployment later much easier.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Depthwise-separable convolution is MobileNet's core trick — same job, far less math. This choice is exactly why Thursday's edge deploy and Friday's arm run smoothly.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Today is feature-extraction (head only). The lab stretch task tries partial fine-tuning. Full fine-tune is out of scope here — too data-hungry.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Direct returner callback to Week 1 Day 4. The run_epoch loop is the same shape as their TinyGPT training step — only the starting point differs.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concept to a working recognizer.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shape of the Wednesday notebook. Each step is a cell or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Augmentation is one of the biggest levers on accuracy with small datasets — essentially free extra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Augmentation is near-free extra data, but only when the label still holds after the transform. Flips/rotations/brightness help; meaning-changing flips and object-erasing crops hurt.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'the model is bad' issues on Friday trace back to thin or lopsided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Reinforces Monday's data rules and the crop-then-classify pipeline. Balance plus a none class is what makes rejection reliable on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Connects the model to Friday: recognize → is it the target? → only then pick.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settled design: none class + threshold + confidence margin. Margin = top1 minus top2; a small margin means the model is torn, so it should answer 'not sure.'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find a case where color fails and their model wins — that's the 'aha'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Per-class accuracy tells you exactly which object needs more/better data. This chart is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Introduces attention/heatmap inspection as a debugging tool: if the model keys on the background or a hand, the fix is better photos, not a bigger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triage order for Friday's most common complaint. Fix the data before blaming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 +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Tuesday's overfitting lesson; this is why we chose transfer learning for small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debug decision order: data quality, then class balance, then augmentation, then threshold/margin. Almost always it's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Sets realistic expectations for Friday and ties each failure mode to its fix — better data, look-alike coverage, and the none-class + threshold +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webcam test is the payoff — try objects it should and shouldn't recognize, including the none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Introduces vision-only mode — recognize-and-label with no arm. It's the universal demo, the Track B core deliverable, and the Track A backup if the arm misbehaves.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Friday pipeline: the arm crops, your classifier labels, is-target gates the pick. Vision-only mode runs the first three steps without moving the 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Bridges to Thursday and Friday: the Wednesday lab's last step writes recognizer.onnx, a portable file that runs without the notebook. Thursday shrinks it for the 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up during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to Thursday.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9080" y="822960"/>
            <a:ext cx="1005840" cy="10058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598" y="1084478"/>
            <a:ext cx="482803" cy="482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WEDNESDAY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39572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a Machine to See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4930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digits to the objects you photographed.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journey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ideas, building on yesterday.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560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6656" y="2057400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93" y="2190537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69164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seeing is hard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91840" y="1691640"/>
            <a:ext cx="2560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11296" y="2057400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433" y="2190537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169164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computers see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26480" y="1691640"/>
            <a:ext cx="2560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45936" y="2057400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073" y="219053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169164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trick: transfer learning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57200" y="3108960"/>
            <a:ext cx="2560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76656" y="3474720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793" y="3607857"/>
            <a:ext cx="245791" cy="2457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310896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Your model in practice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3291840" y="3108960"/>
            <a:ext cx="2560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3511296" y="3474720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4433" y="3607857"/>
            <a:ext cx="245791" cy="24579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160520" y="310896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Make it good + build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built the foundation — this week we teach it to see.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560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6656" y="2057400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93" y="2190537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69164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Python, data &amp; regression — Day 1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91840" y="1691640"/>
            <a:ext cx="2560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11296" y="2057400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433" y="2190537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169164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Trees, KNN &amp; your first neural net — Day 2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26480" y="1691640"/>
            <a:ext cx="2560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45936" y="2057400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073" y="219053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169164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K-Means: finding structure — Day 3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57200" y="3108960"/>
            <a:ext cx="2560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76656" y="3474720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793" y="3607857"/>
            <a:ext cx="245791" cy="2457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310896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 tiny GPT you trained — Day 4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3291840" y="3108960"/>
            <a:ext cx="2560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3511296" y="3474720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4433" y="3607857"/>
            <a:ext cx="245791" cy="24579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160520" y="310896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This week: teach a machine to see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we’ve covered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7556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8887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824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neuron &amp; its weights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0116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that multiplies inputs by weights and adds them up. A network is many of these.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4944" y="28072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81" y="29403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7340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validation split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3063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on some data, test on data it never saw — so you know it really learned.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94944" y="385876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399190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7856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training loop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41148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Guess, measure the error, nudge the weights, repeat. Same loop all week.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 digits, today your world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recipe as MNIST — but real objects are much harder. Let's see why.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5786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7117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Digits were easy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286000"/>
            <a:ext cx="2834640" cy="107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clean, centered, grayscale. Not much can change from one 7 to another.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5786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7117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objects vary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286000"/>
            <a:ext cx="2834640" cy="107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Angle, lighting, distance, background — the same cube looks different every photo.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Seeing Is Hard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color photo is a big pile of numbers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more than a digit — now with color.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83794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224×224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66928" y="246888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input size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83794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01568" y="246888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red, green, blue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83794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~150,000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36208" y="246888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per image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383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is 3 numbers (R, G, B).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must find meaning in 150,000 numbers that shift with every angle and light.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big for Tuesday's network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fully-connected net needs a mountain of weights before it learns anything.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88720" y="1965960"/>
            <a:ext cx="29260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211226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98448" y="2743200"/>
            <a:ext cx="2706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in one photo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965960"/>
            <a:ext cx="29260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211226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 million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138928" y="2743200"/>
            <a:ext cx="2706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in the first layer alone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object, a thousand 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must map to one answer.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91566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04880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011680"/>
            <a:ext cx="28346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Bright, dim, shadows, color casts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55448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191566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04880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&amp; rotation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011680"/>
            <a:ext cx="28346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Front, side, tilted, upside-down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94944" y="328726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342040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0540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&amp; scale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3383280"/>
            <a:ext cx="28346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Close-up or far away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754880" y="292608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992624" y="328726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5761" y="3420405"/>
            <a:ext cx="245791" cy="24579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69280" y="30540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669280" y="3383280"/>
            <a:ext cx="28346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Cluttered desk or clean table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in the wild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image-in, label-out idea is everywhere around you.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7556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8887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824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unlock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0116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recognizes you in a fraction of a second.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4944" y="28072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81" y="29403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7340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scans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3063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flag tumors and fractures to support doctors.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94944" y="385876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399190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7856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Self-driving cars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41148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read lanes, signs, and pedestrians in real time.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Computers See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Recap: yesterday you built a CNN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Lab 2 you built one from scratch — today you build on it.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7556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8887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824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built a CNN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0116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 in Lab 2 — conv layers, pooling, the works.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4944" y="28072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81" y="29403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7340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read digits at ~99%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3063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CNN you trained, beating the flat network.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94944" y="385876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399190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7856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aim it at YOUR objects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41148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machinery, real photographed objects instead of clean digits.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in layers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builds understanding from the ground up.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80160" y="2139696"/>
            <a:ext cx="65836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9264" y="182880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828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8712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colors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3824" y="182880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63824" y="1828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651760" y="25420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28712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&amp; corners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58384" y="182880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58384" y="1828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46320" y="25420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28712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of things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52944" y="182880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52944" y="1828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40880" y="25420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95160" y="28712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thing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749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layers spot tiny patterns; later layers combine them </a:t>
            </a: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“that's an edge” or “that's a cube.”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finds patterns: convolution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filter scans the whole image looking for one pattern.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15568" y="1965960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08176" y="1965960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00784" y="1965960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93392" y="1965960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0" y="1965960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2258568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15568" y="2258568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08176" y="2258568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00784" y="2258568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93392" y="2258568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0" y="2258568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" y="2551176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15568" y="2551176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408176" y="2551176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700784" y="2551176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993392" y="2551176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86000" y="2551176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22960" y="2843784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15568" y="2843784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408176" y="2843784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700784" y="2843784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993392" y="2843784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286000" y="2843784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2960" y="3136392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115568" y="3136392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408176" y="3136392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700784" y="3136392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993392" y="3136392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286000" y="3136392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2960" y="3429000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115568" y="3429000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408176" y="3429000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700784" y="3429000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993392" y="3429000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286000" y="3429000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04672" y="1947672"/>
            <a:ext cx="877824" cy="877824"/>
          </a:xfrm>
          <a:prstGeom prst="rect">
            <a:avLst/>
          </a:prstGeom>
          <a:solidFill>
            <a:srgbClr val="22D3EE">
              <a:alpha val="20000"/>
            </a:srgbClr>
          </a:solidFill>
          <a:ln w="317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2960" y="376732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403250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filter slides across…</a:t>
            </a:r>
            <a:endParaRPr lang="en-US" sz="1000" dirty="0"/>
          </a:p>
        </p:txBody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287829"/>
            <a:ext cx="502920" cy="411480"/>
          </a:xfrm>
          <a:prstGeom prst="rect">
            <a:avLst/>
          </a:prstGeom>
        </p:spPr>
      </p:pic>
      <p:sp>
        <p:nvSpPr>
          <p:cNvPr id="46" name="Shape 43"/>
          <p:cNvSpPr/>
          <p:nvPr/>
        </p:nvSpPr>
        <p:spPr>
          <a:xfrm>
            <a:off x="4023360" y="2148840"/>
            <a:ext cx="310896" cy="310896"/>
          </a:xfrm>
          <a:prstGeom prst="rect">
            <a:avLst/>
          </a:prstGeom>
          <a:solidFill>
            <a:srgbClr val="0891B2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4370832" y="2148840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4718304" y="2148840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5065776" y="2148840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4023360" y="2496312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4370832" y="2496312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4718304" y="2496312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5065776" y="2496312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4023360" y="2843784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4370832" y="2843784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4718304" y="2843784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5065776" y="2843784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4023360" y="3191256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4370832" y="3191256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4718304" y="3191256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5065776" y="3191256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4023360" y="358444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5550408" y="2468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…building a map of where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pattern appears.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step of convolution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up the filter, multiply overlapping cells, add them up — that sum is one number in the feature map.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15568" y="1965960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08176" y="1965960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00784" y="1965960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93392" y="1965960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0" y="1965960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2258568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15568" y="2258568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08176" y="2258568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00784" y="2258568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93392" y="2258568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0" y="2258568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" y="2551176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15568" y="2551176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408176" y="2551176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700784" y="2551176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993392" y="2551176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86000" y="2551176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22960" y="2843784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15568" y="2843784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408176" y="2843784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700784" y="2843784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993392" y="2843784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286000" y="2843784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2960" y="3136392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115568" y="3136392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408176" y="3136392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700784" y="3136392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993392" y="3136392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286000" y="3136392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2960" y="3429000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115568" y="3429000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408176" y="3429000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700784" y="3429000"/>
            <a:ext cx="260604" cy="260604"/>
          </a:xfrm>
          <a:prstGeom prst="rect">
            <a:avLst/>
          </a:prstGeom>
          <a:solidFill>
            <a:srgbClr val="EEF3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993392" y="3429000"/>
            <a:ext cx="260604" cy="26060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286000" y="3429000"/>
            <a:ext cx="260604" cy="260604"/>
          </a:xfrm>
          <a:prstGeom prst="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04672" y="1947672"/>
            <a:ext cx="877824" cy="877824"/>
          </a:xfrm>
          <a:prstGeom prst="rect">
            <a:avLst/>
          </a:prstGeom>
          <a:solidFill>
            <a:srgbClr val="22D3EE">
              <a:alpha val="20000"/>
            </a:srgbClr>
          </a:solidFill>
          <a:ln w="317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2960" y="376732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under the filter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403250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cell-by-cell, then add</a:t>
            </a:r>
            <a:endParaRPr lang="en-US" sz="1000" dirty="0"/>
          </a:p>
        </p:txBody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287829"/>
            <a:ext cx="502920" cy="411480"/>
          </a:xfrm>
          <a:prstGeom prst="rect">
            <a:avLst/>
          </a:prstGeom>
        </p:spPr>
      </p:pic>
      <p:sp>
        <p:nvSpPr>
          <p:cNvPr id="46" name="Shape 43"/>
          <p:cNvSpPr/>
          <p:nvPr/>
        </p:nvSpPr>
        <p:spPr>
          <a:xfrm>
            <a:off x="4023360" y="2148840"/>
            <a:ext cx="310896" cy="310896"/>
          </a:xfrm>
          <a:prstGeom prst="rect">
            <a:avLst/>
          </a:prstGeom>
          <a:solidFill>
            <a:srgbClr val="0891B2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4370832" y="2148840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4718304" y="2148840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5065776" y="2148840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4023360" y="2496312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4370832" y="2496312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4718304" y="2496312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5065776" y="2496312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4023360" y="2843784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4370832" y="2843784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4718304" y="2843784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5065776" y="2843784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4023360" y="3191256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4370832" y="3191256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4718304" y="3191256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5065776" y="3191256"/>
            <a:ext cx="310896" cy="310896"/>
          </a:xfrm>
          <a:prstGeom prst="rect">
            <a:avLst/>
          </a:prstGeom>
          <a:solidFill>
            <a:srgbClr val="ECFEFF"/>
          </a:solidFill>
          <a:ln w="6350">
            <a:solidFill>
              <a:srgbClr val="D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4023360" y="358444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output number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5550408" y="2468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number = strong match here;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over and repeat.</a:t>
            </a:r>
            <a:endParaRPr lang="en-US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7D748E3-BCB7-BB1B-3F42-E481C52848EB}"/>
              </a:ext>
            </a:extLst>
          </p:cNvPr>
          <p:cNvSpPr txBox="1"/>
          <p:nvPr/>
        </p:nvSpPr>
        <p:spPr>
          <a:xfrm>
            <a:off x="3657600" y="431284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Demo https://deeplizard.com/resource/pavq7noze2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maps: where a pattern shows up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filter makes its own map; stack them and one layer sees many patterns at once.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5786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7117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feature map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286000"/>
            <a:ext cx="283464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heatmap: bright where that filter found its pattern, dark where it didn't.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5786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7117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maps, stacked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286000"/>
            <a:ext cx="283464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dozen filters → a dozen maps → the next layer combines them into richer patterns.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filters learn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simple to meaningful, layer by layer.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5786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7117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filters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286000"/>
            <a:ext cx="283464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Edges, colors, simple textures — the alphabet of images.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5786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7117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filters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286000"/>
            <a:ext cx="283464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Combinations: wheels, faces, handles — the words and sentences.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 shrink, keep what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convolution we downsample — smaller maps, same meaning.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5786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7117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pooling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286000"/>
            <a:ext cx="2919600" cy="110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a small window and keep only its strongest value — the loudest evidence survives.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5786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7117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shrink?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286000"/>
            <a:ext cx="2834640" cy="110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numbers to crunch, less fussy about exact position, and faster on a Pi.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= more meaning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repeats convolve-then-shrink; each round the picture gets smaller but richer.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80160" y="2139696"/>
            <a:ext cx="65836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9264" y="182880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828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Convolve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8712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small patterns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3824" y="182880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63824" y="1828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651760" y="25420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28712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the map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58384" y="182880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58384" y="1828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46320" y="25420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Convolve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28712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patterns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52944" y="182880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52944" y="1828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40880" y="25420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95160" y="28712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again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749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 few of these blocks and simple edges become whole objects.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ReLU? (you met it Tuesday)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rule between layers that lets the network bend.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5786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7117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286000"/>
            <a:ext cx="2834640" cy="109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layers with no bend collapses into one straight line — it can only draw a ruler.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5786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7117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ReLU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286000"/>
            <a:ext cx="2834640" cy="109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positives, zero out negatives. Now the network can trace curves and corners.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convolution wins for images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the plain network from Tuesday.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7556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8887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824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a pattern anywhere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0116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filter scans the whole image — an object works top-left or bottom-right.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4944" y="28072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81" y="29403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7340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 fewer parameters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3063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one small filter beats connecting every pixel to every neuron.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94944" y="385876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399190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7856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Respects the picture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41148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at neighborhoods of pixels, not a scrambled list of numbers.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Trick: Transfer Learning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you have ~50 photos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like this normally train on millions of images.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88720" y="1965960"/>
            <a:ext cx="29260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211226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98448" y="2743200"/>
            <a:ext cx="2706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per object (you)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965960"/>
            <a:ext cx="29260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211226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138928" y="2743200"/>
            <a:ext cx="2706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train from scratch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 a network that already sees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its eyes, retrain only its verdict.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4206240" cy="1737360"/>
          </a:xfrm>
          <a:prstGeom prst="roundRect">
            <a:avLst>
              <a:gd name="adj" fmla="val 4737"/>
            </a:avLst>
          </a:prstGeom>
          <a:solidFill>
            <a:srgbClr val="ECFEF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218815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084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backbone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26517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—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everything it learned from millions of images (edges, textures, shapes).</a:t>
            </a:r>
            <a:endParaRPr lang="en-US" sz="1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514600"/>
            <a:ext cx="411480" cy="3657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0" y="1828800"/>
            <a:ext cx="3017520" cy="1737360"/>
          </a:xfrm>
          <a:prstGeom prst="roundRect">
            <a:avLst>
              <a:gd name="adj" fmla="val 4737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715000" y="2057400"/>
            <a:ext cx="502920" cy="50292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5759" y="218815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55080" y="2084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final layer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760720" y="26517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—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part you train, on YOUR photos.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3794760"/>
            <a:ext cx="7863840" cy="731520"/>
          </a:xfrm>
          <a:prstGeom prst="roundRect">
            <a:avLst>
              <a:gd name="adj" fmla="val 1125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914400" y="3794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transfer learning: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hard-won features, teach only the final naming step.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vs. learning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clear jobs.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5786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7117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(most of the network)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286000"/>
            <a:ext cx="2834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weights don't change. It already knows how to see — we don't touch it.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5786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7117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(the new head)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286000"/>
            <a:ext cx="2834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fresh layer that maps features to YOUR object names.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borrowing works: features are general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hard-won early features aren't specific to any one object.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7556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8887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824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 &amp; textures are universal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0116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Curves, corners, and textures matter for cats, cars, and your objects alike.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4944" y="28072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81" y="29403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7340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knows how to look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3063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trained on millions of images has seen every kind of edge and surface.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94944" y="385876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399190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7856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your objects reuse them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41148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teach the last step: these features → cube, cylinder, panda.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borrowed features are general.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560320" cy="265176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63040" y="202082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86" y="2163470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features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" y="3044952"/>
            <a:ext cx="22311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and textures matter for cats, cars, and your objects alike.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783080"/>
            <a:ext cx="2560320" cy="265176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97680" y="2020824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326" y="2163470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56432" y="3044952"/>
            <a:ext cx="22311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sliver trains, so it's done in minutes.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783080"/>
            <a:ext cx="2560320" cy="265176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132320" y="202082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966" y="2163470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91072" y="3044952"/>
            <a:ext cx="22311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results from just a handful of photos.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ImageNet?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that gave our backbone its eyes.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83794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66928" y="246888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83794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01568" y="246888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categories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83794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36208" y="246888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that already sees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383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learned edges, textures, and shapes here. Transfer learning borrows all of that — which is why your ~50 photos are enough.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backbone: MobileNet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Pretrained, small, and built to run on modest hardware.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7556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8887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824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on ImageNet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0116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learned from over a million labeled images across 1,000 categories.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4944" y="28072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81" y="29403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7340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be small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3063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phones and edge devices — which pays off on Thursday and Friday.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94944" y="385876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399190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7856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fine-tune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41148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head, train briefly, done.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MobileNet is small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the same job as a big CNN with far less math.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5786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7117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convolution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286000"/>
            <a:ext cx="2834640" cy="111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filter looks at every channel at once — powerful, but heavy.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5786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7117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Depthwise-separable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286000"/>
            <a:ext cx="2834640" cy="111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it into two cheaper steps — nearly the same accuracy at a fraction of the cost, so it flies on a Pi.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do you retrain?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spectrum from cheap-and-fast to powerful-and-hungry.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7556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8887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824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Feature-extract (today)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0116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backbone, train only the new head. Fast, and works on ~50 photos.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4944" y="28072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81" y="29403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7340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fine-tune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3063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unfreeze the last block and train it gently. A little more accuracy, more data needed.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94944" y="385876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399190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7856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fine-tune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41148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everything. Best results — but needs lots of data and time.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started from a checkpoint before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is the same head start you gave your TinyGPT.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5786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7117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from zero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286000"/>
            <a:ext cx="2834640" cy="108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TinyGPT started with random weights and learned everything the hard way.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5786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7117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from a head start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286000"/>
            <a:ext cx="2834640" cy="108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from a network that already sees — same training loop, far less data and time.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Model in Practice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training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from photos to a working recognizer.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80160" y="2231136"/>
            <a:ext cx="65836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926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Day-1 data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382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6382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65176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variety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5838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5838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4632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head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52944" y="1920240"/>
            <a:ext cx="621792" cy="621792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5294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4088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9516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export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augmentation: free variety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each photo into many, so the model sees more angles and lighting.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371600" cy="13716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2377440"/>
            <a:ext cx="64008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2423160"/>
            <a:ext cx="365760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0" y="1920240"/>
            <a:ext cx="1371600" cy="13716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108960" y="2377440"/>
            <a:ext cx="64008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89120" y="1920240"/>
            <a:ext cx="1371600" cy="13716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rot="1200000">
            <a:off x="4754880" y="2377440"/>
            <a:ext cx="64008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8912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35040" y="1920240"/>
            <a:ext cx="1371600" cy="13716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0" y="2377440"/>
            <a:ext cx="640080" cy="45720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3504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brighter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680960" y="1920240"/>
            <a:ext cx="1371600" cy="13716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046720" y="2377440"/>
            <a:ext cx="64008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68096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cropped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31520" y="3611880"/>
            <a:ext cx="7680960" cy="777240"/>
          </a:xfrm>
          <a:prstGeom prst="roundRect">
            <a:avLst>
              <a:gd name="adj" fmla="val 10588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005840" y="36118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photo → many.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Flips, rotations, and brightness shifts teach the model what doesn't matter.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augmentations help?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variety that doesn't change what the object is.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5786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7117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286000"/>
            <a:ext cx="2834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flips, small rotations, brightness and contrast shifts — real-world variation.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5786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7117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careful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286000"/>
            <a:ext cx="2834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that change meaning, or crops so tight the object is gone — that teaches the wrong thing.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model is only as good as your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lever on Friday's success.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86994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0030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36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Variety wins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96596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Angles, distances, lighting.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50876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18699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00308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636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balanced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196596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equal photos per object.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822960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94944" y="328726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342040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0540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Garbage in, garbage out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3383280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photo would confuse you, it'll confuse the model. Fix the data before blaming the model.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good training photo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lever on Friday — worth getting right today.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7556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8887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824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frame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0116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should roughly fill the shot — that matches the crop the arm hands your model.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4944" y="28072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81" y="29403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7340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Vary everything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3063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Angles, distances, lighting, backgrounds — including messy real-table shots.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94944" y="385876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399190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7856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balanced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41148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equal photos per object — plus a none class of empty table + clutter.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the target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 scores every object; you name today's target.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0985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2316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8653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any target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19456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all your objects; name one and it finds the match.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73736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09854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23168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8653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threshold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19456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 cutoff, it says “not sure.”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154680"/>
            <a:ext cx="822960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94944" y="351586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364900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2826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“nothing here” class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3611880"/>
            <a:ext cx="713232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table + clutter, so the robot won't grab when the target is absent.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sure? Say so.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always returns something — so we add two guards.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83794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66928" y="246888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guess (cube)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83794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01568" y="246888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runner-up (cylinder)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5603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83794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36208" y="246888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— too close!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383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ignore low-confidence guesses. Margin: if the top two are close, answer “not sure.” With the none class, that's reliable “not-recognized” — so the arm never grabs the wrong thing.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vs. learned — race them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includes both. Find where color breaks.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5786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7117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thresholding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286000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simple; great on plain blocks, breaks on real objects.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5786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7117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neural net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286000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shape and texture, not just color — handles the messy cases.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 per object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can hide a class it's bad at.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91640"/>
          <a:ext cx="49377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2011680"/>
            <a:ext cx="3017520" cy="2011680"/>
          </a:xfrm>
          <a:prstGeom prst="roundRect">
            <a:avLst>
              <a:gd name="adj" fmla="val 409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07024" y="276148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161" y="2894625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0" y="2139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weak class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583680" y="2468880"/>
            <a:ext cx="19202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“cylinder” lags — add more cylinder photos, from more angles, and retrain.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your model looks at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way to tell if it learned the object — or the background.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5786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7117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heatmap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286000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the pixels that drove the guess — they should land on the object.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5786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7117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sanity check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286000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fixates on your desk or hand, fix the photos — not the model.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your training curves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train and validation accuracy together — the gap tells the story.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5786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7117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286000"/>
            <a:ext cx="2834640" cy="108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validation rise together and level off close. It really learned.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5786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7117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286000"/>
            <a:ext cx="2834640" cy="108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keeps climbing while validation flattens or dips — it's memorizing. Add data or augmentation.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Good &amp; Build</a:t>
            </a:r>
            <a:endParaRPr lang="en-US" sz="4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data, big overfitting risk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~50 photos, memorizing is the main danger — here's what saves us.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7556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8887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824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0116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frozen backbone already generalizes, so the tiny head can't overfit much.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4944" y="28072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81" y="29403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7340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3063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variety from the same photos.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94944" y="385876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399190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7856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check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41148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accuracy on held-out photos, not just training ones.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“My model is bad” — debug 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always the data, not the model. Work down this list.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80160" y="2231136"/>
            <a:ext cx="65836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926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data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mislabeled? blurry?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382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6382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65176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classes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photos each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5838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5838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4632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augmentation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variety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52944" y="1920240"/>
            <a:ext cx="621792" cy="621792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5294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4088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threshold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9516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margin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your recognizer will fail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failure modes before Friday's demo.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17556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8887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824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crop or lighting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0116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 or half-cut photo looks like nothing it trained 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4944" y="28072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81" y="29403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7340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Look-alike objects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3063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similar shapes blur together — add more photos of that pair.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94944" y="385876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399190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7856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brand-new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41148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It'll still guess on an object it never saw — that's what none + threshold are for.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today's lab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Wednesday notebook.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560320" cy="265176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63040" y="202082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86" y="2163470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" y="3044952"/>
            <a:ext cx="22311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MobileNet on your own photos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783080"/>
            <a:ext cx="2560320" cy="265176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97680" y="2020824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326" y="2163470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56432" y="3044952"/>
            <a:ext cx="22311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your webcam at objects, live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783080"/>
            <a:ext cx="2560320" cy="265176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132320" y="202082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966" y="2163470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91072" y="3044952"/>
            <a:ext cx="22311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as ONNX for tomorrow's edge lab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test: point a camera at 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and label in real time — no arm required.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5786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7117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Vision-only mode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286000"/>
            <a:ext cx="283464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in, label and box on screen — the demo everyone can run.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5786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7117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Friday safety net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286000"/>
            <a:ext cx="2834640" cy="109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arm misbehaves, vision-only still shows your model working.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recognizer to robot (Friday)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today's model plugs into the arm.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80160" y="2231136"/>
            <a:ext cx="65836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926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+ crop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isolates the object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382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6382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65176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model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the crop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58384" y="192024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5838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4632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the target?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+ margin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52944" y="1920240"/>
            <a:ext cx="621792" cy="621792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5294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40880" y="2633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picks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95160" y="296265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it matches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it: one portable file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trained model leaves the notebook as a single file.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5786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7117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.onnx file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286000"/>
            <a:ext cx="2834640" cy="111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portable format that runs without your notebook or a GPU.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92624" y="25786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7117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956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 shrink it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286000"/>
            <a:ext cx="2834640" cy="111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you compress it for the Pi; Friday it drives the arm.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today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to Tuesday's cheat-sheet.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COMPUTER 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081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color dot (R,G,B)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4408" y="1325880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47288" y="14081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47288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the net detects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71616" y="1325880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54496" y="14081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54496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a filter over an image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167128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/ kernel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2532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pattern detector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64408" y="2167128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47288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47288" y="2532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pattern was found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71616" y="2167128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54496" y="2532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008376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374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pretrained feature extractor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64408" y="3008376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47288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47288" y="3374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layer you train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71616" y="3008376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54496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54496" y="3374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 trained network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849624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42153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briefly on new data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64408" y="3849624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47288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47288" y="42153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variants of your data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71616" y="3849624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54496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54496" y="42153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 category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8686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1064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 make it run anywhere.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shrinking your model to fit a tiny computer.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4115</Words>
  <Application>Microsoft Office PowerPoint</Application>
  <PresentationFormat>On-screen Show (16:9)</PresentationFormat>
  <Paragraphs>582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Wednesday — Teaching a Machine to See</dc:title>
  <dc:subject>PptxGenJS Presentation</dc:subject>
  <dc:creator>PptxGenJS</dc:creator>
  <cp:lastModifiedBy>Bo Sheng</cp:lastModifiedBy>
  <cp:revision>2</cp:revision>
  <dcterms:created xsi:type="dcterms:W3CDTF">2026-07-22T19:40:53Z</dcterms:created>
  <dcterms:modified xsi:type="dcterms:W3CDTF">2026-08-05T05:09:11Z</dcterms:modified>
</cp:coreProperties>
</file>
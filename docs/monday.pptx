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8"/>
  </p:notesMasterIdLst>
  <p:sldIdLst>
    <p:sldId id="256" r:id="rId2"/>
    <p:sldId id="257" r:id="rId3"/>
    <p:sldId id="258" r:id="rId4"/>
    <p:sldId id="287" r:id="rId5"/>
    <p:sldId id="28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91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  <p:sldId id="278" r:id="rId27"/>
    <p:sldId id="279" r:id="rId28"/>
    <p:sldId id="280" r:id="rId29"/>
    <p:sldId id="281" r:id="rId30"/>
    <p:sldId id="283" r:id="rId31"/>
    <p:sldId id="284" r:id="rId32"/>
    <p:sldId id="285" r:id="rId33"/>
    <p:sldId id="286" r:id="rId34"/>
    <p:sldId id="289" r:id="rId35"/>
    <p:sldId id="290" r:id="rId36"/>
    <p:sldId id="282" r:id="rId3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EF82F85-CB84-2646-8059-3640FA1EA92E}" v="3" dt="2026-08-03T02:06:55.68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474"/>
    <p:restoredTop sz="89255"/>
  </p:normalViewPr>
  <p:slideViewPr>
    <p:cSldViewPr snapToGrid="0" snapToObjects="1">
      <p:cViewPr varScale="1">
        <p:scale>
          <a:sx n="143" d="100"/>
          <a:sy n="143" d="100"/>
        </p:scale>
        <p:origin x="62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o Sheng" userId="cc601f15-23f8-4cfe-b718-7573c20941d7" providerId="ADAL" clId="{87A67D6D-03D0-548C-ABBF-D55A84ECB69E}"/>
    <pc:docChg chg="undo custSel addSld modSld">
      <pc:chgData name="Bo Sheng" userId="cc601f15-23f8-4cfe-b718-7573c20941d7" providerId="ADAL" clId="{87A67D6D-03D0-548C-ABBF-D55A84ECB69E}" dt="2026-08-03T02:11:07.154" v="166" actId="1076"/>
      <pc:docMkLst>
        <pc:docMk/>
      </pc:docMkLst>
      <pc:sldChg chg="addSp modSp mod">
        <pc:chgData name="Bo Sheng" userId="cc601f15-23f8-4cfe-b718-7573c20941d7" providerId="ADAL" clId="{87A67D6D-03D0-548C-ABBF-D55A84ECB69E}" dt="2026-08-03T02:11:07.154" v="166" actId="1076"/>
        <pc:sldMkLst>
          <pc:docMk/>
          <pc:sldMk cId="0" sldId="256"/>
        </pc:sldMkLst>
        <pc:spChg chg="mod">
          <ac:chgData name="Bo Sheng" userId="cc601f15-23f8-4cfe-b718-7573c20941d7" providerId="ADAL" clId="{87A67D6D-03D0-548C-ABBF-D55A84ECB69E}" dt="2026-08-03T02:10:44.002" v="165" actId="14100"/>
          <ac:spMkLst>
            <pc:docMk/>
            <pc:sldMk cId="0" sldId="256"/>
            <ac:spMk id="2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3T02:06:43.676" v="38" actId="1076"/>
          <ac:spMkLst>
            <pc:docMk/>
            <pc:sldMk cId="0" sldId="256"/>
            <ac:spMk id="6" creationId="{00000000-0000-0000-0000-000000000000}"/>
          </ac:spMkLst>
        </pc:spChg>
        <pc:spChg chg="add mod">
          <ac:chgData name="Bo Sheng" userId="cc601f15-23f8-4cfe-b718-7573c20941d7" providerId="ADAL" clId="{87A67D6D-03D0-548C-ABBF-D55A84ECB69E}" dt="2026-08-03T02:11:07.154" v="166" actId="1076"/>
          <ac:spMkLst>
            <pc:docMk/>
            <pc:sldMk cId="0" sldId="256"/>
            <ac:spMk id="7" creationId="{1BCF9F35-1A8E-7891-FD59-FA643BFE13A5}"/>
          </ac:spMkLst>
        </pc:spChg>
        <pc:picChg chg="mod">
          <ac:chgData name="Bo Sheng" userId="cc601f15-23f8-4cfe-b718-7573c20941d7" providerId="ADAL" clId="{87A67D6D-03D0-548C-ABBF-D55A84ECB69E}" dt="2026-08-03T02:10:22.388" v="162" actId="1076"/>
          <ac:picMkLst>
            <pc:docMk/>
            <pc:sldMk cId="0" sldId="256"/>
            <ac:picMk id="3" creationId="{00000000-0000-0000-0000-000000000000}"/>
          </ac:picMkLst>
        </pc:picChg>
      </pc:sldChg>
      <pc:sldChg chg="modSp mod">
        <pc:chgData name="Bo Sheng" userId="cc601f15-23f8-4cfe-b718-7573c20941d7" providerId="ADAL" clId="{87A67D6D-03D0-548C-ABBF-D55A84ECB69E}" dt="2026-08-02T19:15:19.073" v="5" actId="14100"/>
        <pc:sldMkLst>
          <pc:docMk/>
          <pc:sldMk cId="0" sldId="261"/>
        </pc:sldMkLst>
        <pc:spChg chg="mod">
          <ac:chgData name="Bo Sheng" userId="cc601f15-23f8-4cfe-b718-7573c20941d7" providerId="ADAL" clId="{87A67D6D-03D0-548C-ABBF-D55A84ECB69E}" dt="2026-08-02T19:15:15.990" v="4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2T19:15:19.073" v="5" actId="14100"/>
          <ac:spMkLst>
            <pc:docMk/>
            <pc:sldMk cId="0" sldId="261"/>
            <ac:spMk id="14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2T19:15:27.724" v="7" actId="14100"/>
        <pc:sldMkLst>
          <pc:docMk/>
          <pc:sldMk cId="0" sldId="262"/>
        </pc:sldMkLst>
        <pc:spChg chg="mod">
          <ac:chgData name="Bo Sheng" userId="cc601f15-23f8-4cfe-b718-7573c20941d7" providerId="ADAL" clId="{87A67D6D-03D0-548C-ABBF-D55A84ECB69E}" dt="2026-08-02T19:15:24.024" v="6" actId="14100"/>
          <ac:spMkLst>
            <pc:docMk/>
            <pc:sldMk cId="0" sldId="262"/>
            <ac:spMk id="9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2T19:15:27.724" v="7" actId="14100"/>
          <ac:spMkLst>
            <pc:docMk/>
            <pc:sldMk cId="0" sldId="262"/>
            <ac:spMk id="14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2T19:15:54.956" v="9" actId="14100"/>
        <pc:sldMkLst>
          <pc:docMk/>
          <pc:sldMk cId="0" sldId="263"/>
        </pc:sldMkLst>
        <pc:spChg chg="mod">
          <ac:chgData name="Bo Sheng" userId="cc601f15-23f8-4cfe-b718-7573c20941d7" providerId="ADAL" clId="{87A67D6D-03D0-548C-ABBF-D55A84ECB69E}" dt="2026-08-02T19:15:50.690" v="8" actId="14100"/>
          <ac:spMkLst>
            <pc:docMk/>
            <pc:sldMk cId="0" sldId="263"/>
            <ac:spMk id="10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2T19:15:54.956" v="9" actId="14100"/>
          <ac:spMkLst>
            <pc:docMk/>
            <pc:sldMk cId="0" sldId="263"/>
            <ac:spMk id="15" creationId="{00000000-0000-0000-0000-000000000000}"/>
          </ac:spMkLst>
        </pc:spChg>
      </pc:sldChg>
      <pc:sldChg chg="modSp">
        <pc:chgData name="Bo Sheng" userId="cc601f15-23f8-4cfe-b718-7573c20941d7" providerId="ADAL" clId="{87A67D6D-03D0-548C-ABBF-D55A84ECB69E}" dt="2026-08-02T22:42:47.763" v="21" actId="167"/>
        <pc:sldMkLst>
          <pc:docMk/>
          <pc:sldMk cId="0" sldId="266"/>
        </pc:sldMkLst>
        <pc:picChg chg="mod">
          <ac:chgData name="Bo Sheng" userId="cc601f15-23f8-4cfe-b718-7573c20941d7" providerId="ADAL" clId="{87A67D6D-03D0-548C-ABBF-D55A84ECB69E}" dt="2026-08-02T22:42:47.763" v="21" actId="167"/>
          <ac:picMkLst>
            <pc:docMk/>
            <pc:sldMk cId="0" sldId="266"/>
            <ac:picMk id="17" creationId="{00000000-0000-0000-0000-000000000000}"/>
          </ac:picMkLst>
        </pc:picChg>
      </pc:sldChg>
      <pc:sldChg chg="modSp mod">
        <pc:chgData name="Bo Sheng" userId="cc601f15-23f8-4cfe-b718-7573c20941d7" providerId="ADAL" clId="{87A67D6D-03D0-548C-ABBF-D55A84ECB69E}" dt="2026-08-02T22:43:18.706" v="25" actId="20577"/>
        <pc:sldMkLst>
          <pc:docMk/>
          <pc:sldMk cId="0" sldId="269"/>
        </pc:sldMkLst>
        <pc:spChg chg="mod">
          <ac:chgData name="Bo Sheng" userId="cc601f15-23f8-4cfe-b718-7573c20941d7" providerId="ADAL" clId="{87A67D6D-03D0-548C-ABBF-D55A84ECB69E}" dt="2026-08-02T22:43:18.706" v="25" actId="20577"/>
          <ac:spMkLst>
            <pc:docMk/>
            <pc:sldMk cId="0" sldId="269"/>
            <ac:spMk id="7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2T22:43:01.726" v="22" actId="14100"/>
          <ac:spMkLst>
            <pc:docMk/>
            <pc:sldMk cId="0" sldId="269"/>
            <ac:spMk id="12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2T22:43:06.823" v="23" actId="14100"/>
          <ac:spMkLst>
            <pc:docMk/>
            <pc:sldMk cId="0" sldId="269"/>
            <ac:spMk id="17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2T19:16:58.497" v="14" actId="20577"/>
        <pc:sldMkLst>
          <pc:docMk/>
          <pc:sldMk cId="0" sldId="271"/>
        </pc:sldMkLst>
        <pc:spChg chg="mod">
          <ac:chgData name="Bo Sheng" userId="cc601f15-23f8-4cfe-b718-7573c20941d7" providerId="ADAL" clId="{87A67D6D-03D0-548C-ABBF-D55A84ECB69E}" dt="2026-08-02T19:16:58.497" v="14" actId="20577"/>
          <ac:spMkLst>
            <pc:docMk/>
            <pc:sldMk cId="0" sldId="271"/>
            <ac:spMk id="7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2T22:43:40.406" v="27" actId="14100"/>
        <pc:sldMkLst>
          <pc:docMk/>
          <pc:sldMk cId="0" sldId="273"/>
        </pc:sldMkLst>
        <pc:spChg chg="mod">
          <ac:chgData name="Bo Sheng" userId="cc601f15-23f8-4cfe-b718-7573c20941d7" providerId="ADAL" clId="{87A67D6D-03D0-548C-ABBF-D55A84ECB69E}" dt="2026-08-02T22:43:37.090" v="26" actId="14100"/>
          <ac:spMkLst>
            <pc:docMk/>
            <pc:sldMk cId="0" sldId="273"/>
            <ac:spMk id="10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2T22:43:40.406" v="27" actId="14100"/>
          <ac:spMkLst>
            <pc:docMk/>
            <pc:sldMk cId="0" sldId="273"/>
            <ac:spMk id="15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2T22:43:51.817" v="30" actId="20577"/>
        <pc:sldMkLst>
          <pc:docMk/>
          <pc:sldMk cId="0" sldId="274"/>
        </pc:sldMkLst>
        <pc:spChg chg="mod">
          <ac:chgData name="Bo Sheng" userId="cc601f15-23f8-4cfe-b718-7573c20941d7" providerId="ADAL" clId="{87A67D6D-03D0-548C-ABBF-D55A84ECB69E}" dt="2026-08-02T22:43:51.817" v="30" actId="20577"/>
          <ac:spMkLst>
            <pc:docMk/>
            <pc:sldMk cId="0" sldId="274"/>
            <ac:spMk id="7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2T22:44:05.107" v="35" actId="20577"/>
        <pc:sldMkLst>
          <pc:docMk/>
          <pc:sldMk cId="0" sldId="275"/>
        </pc:sldMkLst>
        <pc:spChg chg="mod">
          <ac:chgData name="Bo Sheng" userId="cc601f15-23f8-4cfe-b718-7573c20941d7" providerId="ADAL" clId="{87A67D6D-03D0-548C-ABBF-D55A84ECB69E}" dt="2026-08-02T22:44:05.107" v="35" actId="20577"/>
          <ac:spMkLst>
            <pc:docMk/>
            <pc:sldMk cId="0" sldId="275"/>
            <ac:spMk id="7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2T22:44:18.217" v="37" actId="20577"/>
        <pc:sldMkLst>
          <pc:docMk/>
          <pc:sldMk cId="0" sldId="276"/>
        </pc:sldMkLst>
        <pc:spChg chg="mod">
          <ac:chgData name="Bo Sheng" userId="cc601f15-23f8-4cfe-b718-7573c20941d7" providerId="ADAL" clId="{87A67D6D-03D0-548C-ABBF-D55A84ECB69E}" dt="2026-08-02T22:44:18.217" v="37" actId="20577"/>
          <ac:spMkLst>
            <pc:docMk/>
            <pc:sldMk cId="0" sldId="276"/>
            <ac:spMk id="7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2T19:17:45.173" v="18" actId="14100"/>
        <pc:sldMkLst>
          <pc:docMk/>
          <pc:sldMk cId="0" sldId="284"/>
        </pc:sldMkLst>
        <pc:spChg chg="mod">
          <ac:chgData name="Bo Sheng" userId="cc601f15-23f8-4cfe-b718-7573c20941d7" providerId="ADAL" clId="{87A67D6D-03D0-548C-ABBF-D55A84ECB69E}" dt="2026-08-02T19:17:42.025" v="17" actId="14100"/>
          <ac:spMkLst>
            <pc:docMk/>
            <pc:sldMk cId="0" sldId="284"/>
            <ac:spMk id="9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2T19:17:45.173" v="18" actId="14100"/>
          <ac:spMkLst>
            <pc:docMk/>
            <pc:sldMk cId="0" sldId="284"/>
            <ac:spMk id="14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2T19:13:48.458" v="1" actId="14100"/>
        <pc:sldMkLst>
          <pc:docMk/>
          <pc:sldMk cId="0" sldId="287"/>
        </pc:sldMkLst>
        <pc:spChg chg="mod">
          <ac:chgData name="Bo Sheng" userId="cc601f15-23f8-4cfe-b718-7573c20941d7" providerId="ADAL" clId="{87A67D6D-03D0-548C-ABBF-D55A84ECB69E}" dt="2026-08-02T19:13:44.316" v="0" actId="14100"/>
          <ac:spMkLst>
            <pc:docMk/>
            <pc:sldMk cId="0" sldId="287"/>
            <ac:spMk id="10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2T19:13:48.458" v="1" actId="14100"/>
          <ac:spMkLst>
            <pc:docMk/>
            <pc:sldMk cId="0" sldId="287"/>
            <ac:spMk id="15" creationId="{00000000-0000-0000-0000-000000000000}"/>
          </ac:spMkLst>
        </pc:spChg>
      </pc:sldChg>
      <pc:sldChg chg="modSp mod">
        <pc:chgData name="Bo Sheng" userId="cc601f15-23f8-4cfe-b718-7573c20941d7" providerId="ADAL" clId="{87A67D6D-03D0-548C-ABBF-D55A84ECB69E}" dt="2026-08-02T19:14:03.674" v="3" actId="14100"/>
        <pc:sldMkLst>
          <pc:docMk/>
          <pc:sldMk cId="0" sldId="288"/>
        </pc:sldMkLst>
        <pc:spChg chg="mod">
          <ac:chgData name="Bo Sheng" userId="cc601f15-23f8-4cfe-b718-7573c20941d7" providerId="ADAL" clId="{87A67D6D-03D0-548C-ABBF-D55A84ECB69E}" dt="2026-08-02T19:13:59.241" v="2" actId="14100"/>
          <ac:spMkLst>
            <pc:docMk/>
            <pc:sldMk cId="0" sldId="288"/>
            <ac:spMk id="10" creationId="{00000000-0000-0000-0000-000000000000}"/>
          </ac:spMkLst>
        </pc:spChg>
        <pc:spChg chg="mod">
          <ac:chgData name="Bo Sheng" userId="cc601f15-23f8-4cfe-b718-7573c20941d7" providerId="ADAL" clId="{87A67D6D-03D0-548C-ABBF-D55A84ECB69E}" dt="2026-08-02T19:14:03.674" v="3" actId="14100"/>
          <ac:spMkLst>
            <pc:docMk/>
            <pc:sldMk cId="0" sldId="288"/>
            <ac:spMk id="15" creationId="{00000000-0000-0000-0000-000000000000}"/>
          </ac:spMkLst>
        </pc:spChg>
      </pc:sldChg>
      <pc:sldChg chg="add">
        <pc:chgData name="Bo Sheng" userId="cc601f15-23f8-4cfe-b718-7573c20941d7" providerId="ADAL" clId="{87A67D6D-03D0-548C-ABBF-D55A84ECB69E}" dt="2026-08-02T19:20:59.788" v="20"/>
        <pc:sldMkLst>
          <pc:docMk/>
          <pc:sldMk cId="1970287382" sldId="291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543465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welcome. The promise: by Friday, a robot arm that recognizes and sorts objects using a neural net they trained. Today is orientation + setup + first Python.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the shape of the day so students know what's coming. The setup step is the one that unblocks all the remote days.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Orient them to the whole week first.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middle box is theirs. Seeing and acting are handled, so all their energy goes into the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arc: fundamentals → your objects → make it small → the payoff. Mon &amp; Fri (amber) are in person.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Reassure the remote worry: no arm needed midweek - students test their model on their own laptop webcam (Wednesday's notebook does exactly this), then deploy to the real arm on Friday.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light preview of Tuesday. Ask them how they'd hand-write rules to spot a dog vs a cat — sets up 'learn from examples.'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Set scope: nobody writes robot kinematics. The camp is about the AI.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to the arm if it's in the room.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Our unit has a plain RGB eye-in-hand camera - no depth. Distance comes from the object's known size (same idea as the calibration cubes / the blue-tape width): apparent size in the image gives the distance, then the arm grasps once your model says what it is. So each graspable object needs its real size measured as a parameter - a Friday setup step.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Teases Thursday's edge spectrum. The car sits at the powerful end; keep it as a demo depending on space.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most important practical block — don't leave today until everyone's set 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whole setup is: open our JupyterHub link and log in. Nothing to install. Make sure everyone logs in successfully before leaving.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Give them the real JupyterHub address. Optional: VS Code + Python locally if they want, but the Hub is the path. This is also how the remote days work — confirm the link works for everyone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Notebooks are new to most of them. Demo running a cell live. This is the interface for every lab this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tiny win to confirm everyone's logged in and running code. The gray line is the output that appears below the cell.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Shake off the rust with three quick exercises.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Keep it light; the point is confidence, not mastery. Everyone codes along.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Have them change the values and rerun. Point out strings (quotes) vs numbers (no quotes).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Watch the indentation — Python uses spaces to group the loop body. A classic beginner gotcha.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hub page's self-check. If they can follow this, they're ready for the week. Unpack the list comprehension gently.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Let them struggle a little — that's the point. Circulate and give hints, not answers.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activity that feeds the whole week.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Confirm the exact object set with the group. The 'none' class is easy to forget but important for Friday.</a:t>
            </a:r>
          </a:p>
          <a:p>
            <a:r>
              <a:rPr dirty="0"/>
              <a:t>Also have each student pick 1-2 objects of their own to add as extra classes - choose ones they can bring to campus and the arm can grasp, so those can be Friday arm targets too. Keep the 3 shared objects + none. Personal objects also work in the vision-only recognize &amp; label demo and seed Thursday's Track 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Push hard on variety — the single biggest lever on Friday's accuracy.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Run it as a rotation so everyone gets time. No pooling - each student trains on their own photos, so everyone needs a full set (about 40-60 per object). Uploading: file browser -&gt; </a:t>
            </a:r>
            <a:r>
              <a:rPr dirty="0" err="1"/>
              <a:t>captured_photos</a:t>
            </a:r>
            <a:r>
              <a:rPr dirty="0"/>
              <a:t> -&gt; the object's folder -&gt; Upload button; works from a phone (camera roll) or a laptop. iPhone: set Camera -&gt; Formats -&gt; Most Compatible so shots save as .jpg - HEIC files won't be counted or trained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sure everyone can log into JupyterHub and has photos before they leave. Remind them of tomorrow's remote start time and the Hub link.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hyperlink" Target="https://www.cs.umb.edu/~shengbo/camp" TargetMode="Externa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21.png"/><Relationship Id="rId4" Type="http://schemas.openxmlformats.org/officeDocument/2006/relationships/image" Target="../media/image18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069080" y="822960"/>
            <a:ext cx="1005840" cy="10058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pPr algn="ctr"/>
            <a:endParaRPr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30598" y="1084478"/>
            <a:ext cx="482803" cy="48280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05740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kern="0" spc="4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DAY 1 · MONDAY</a:t>
            </a:r>
            <a:endParaRPr lang="en-US" sz="1400" dirty="0"/>
          </a:p>
        </p:txBody>
      </p:sp>
      <p:sp>
        <p:nvSpPr>
          <p:cNvPr id="5" name="Text 2"/>
          <p:cNvSpPr/>
          <p:nvPr/>
        </p:nvSpPr>
        <p:spPr>
          <a:xfrm>
            <a:off x="548640" y="2395728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Teaching Machines to See</a:t>
            </a:r>
            <a:endParaRPr lang="en-US" sz="4000" dirty="0"/>
          </a:p>
        </p:txBody>
      </p:sp>
      <p:sp>
        <p:nvSpPr>
          <p:cNvPr id="6" name="Text 3"/>
          <p:cNvSpPr/>
          <p:nvPr/>
        </p:nvSpPr>
        <p:spPr>
          <a:xfrm>
            <a:off x="914399" y="3191256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i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Welcome! Today: get set up, meet the robot, and start collecting data.</a:t>
            </a:r>
            <a:endParaRPr lang="en-US" sz="16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CF9F35-1A8E-7891-FD59-FA643BFE13A5}"/>
              </a:ext>
            </a:extLst>
          </p:cNvPr>
          <p:cNvSpPr txBox="1"/>
          <p:nvPr/>
        </p:nvSpPr>
        <p:spPr>
          <a:xfrm>
            <a:off x="2240175" y="4078224"/>
            <a:ext cx="466364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Instructor:  </a:t>
            </a:r>
            <a:r>
              <a:rPr lang="en-US" i="1" dirty="0">
                <a:solidFill>
                  <a:schemeClr val="bg1"/>
                </a:solidFill>
              </a:rPr>
              <a:t>Prof. Bo Sheng, </a:t>
            </a:r>
            <a:r>
              <a:rPr lang="en-US" dirty="0">
                <a:solidFill>
                  <a:schemeClr val="bg1"/>
                </a:solidFill>
              </a:rPr>
              <a:t> TA:  </a:t>
            </a:r>
            <a:r>
              <a:rPr lang="en-US" i="1" dirty="0">
                <a:solidFill>
                  <a:schemeClr val="bg1"/>
                </a:solidFill>
              </a:rPr>
              <a:t>Mr.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i="1" dirty="0" err="1">
                <a:solidFill>
                  <a:schemeClr val="bg1"/>
                </a:solidFill>
              </a:rPr>
              <a:t>Xiangtao</a:t>
            </a:r>
            <a:r>
              <a:rPr lang="en-US" i="1" dirty="0">
                <a:solidFill>
                  <a:schemeClr val="bg1"/>
                </a:solidFill>
              </a:rPr>
              <a:t> Fu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Today's plan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things, in order.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36829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69264" y="20574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9264" y="2057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Tour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0998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lab &amp; the week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20574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163824" y="2057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51760" y="2770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30998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JupyterHub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20574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358384" y="2057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2770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30998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few warm-ups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52944" y="20574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552944" y="2057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40880" y="2770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Photos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30998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training data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 Ahead</a:t>
            </a:r>
            <a:endParaRPr lang="en-US" sz="4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Week 1 to Week 2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built AI models last week — this week we point them at pictures.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2560320"/>
          </a:xfrm>
          <a:prstGeom prst="roundRect">
            <a:avLst>
              <a:gd name="adj" fmla="val 3214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4944" y="28072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1" y="29403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11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1 (done)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40280"/>
            <a:ext cx="2834640" cy="162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 of numbers &amp; text: regression · a neural net · K-means · a tiny GPT.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783080"/>
            <a:ext cx="3931920" cy="256032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992624" y="28072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761" y="29403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11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Week 2 (now)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40280"/>
            <a:ext cx="2834640" cy="16277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Images you collect: train a recognizer, then run it on a robot arm.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skill, new senses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 is exactly what you already know.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2560320"/>
          </a:xfrm>
          <a:prstGeom prst="roundRect">
            <a:avLst>
              <a:gd name="adj" fmla="val 3214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4944" y="28072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1" y="29403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11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the same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40280"/>
            <a:ext cx="2834640" cy="163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train a model from examples, then test how well it learned.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783080"/>
            <a:ext cx="3931920" cy="256032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992624" y="28072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761" y="29403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11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new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40280"/>
            <a:ext cx="2834640" cy="16358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examples are pictures now — and pictures are just grids of numbers too.</a:t>
            </a:r>
            <a:endParaRPr lang="en-US" sz="11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Friday, you'll build this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robot that sorts objects using a neural network you trained.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74520"/>
            <a:ext cx="2560320" cy="2514600"/>
          </a:xfrm>
          <a:prstGeom prst="roundRect">
            <a:avLst>
              <a:gd name="adj" fmla="val 327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325880" y="2148840"/>
            <a:ext cx="822960" cy="82296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39850" y="2362810"/>
            <a:ext cx="395021" cy="39502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45720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See</a:t>
            </a:r>
            <a:endParaRPr lang="en-US" sz="1900" dirty="0"/>
          </a:p>
        </p:txBody>
      </p:sp>
      <p:sp>
        <p:nvSpPr>
          <p:cNvPr id="10" name="Text 7"/>
          <p:cNvSpPr/>
          <p:nvPr/>
        </p:nvSpPr>
        <p:spPr>
          <a:xfrm>
            <a:off x="64008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arm's camera captures the scene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3291840" y="1874520"/>
            <a:ext cx="2560320" cy="2514600"/>
          </a:xfrm>
          <a:prstGeom prst="roundRect">
            <a:avLst>
              <a:gd name="adj" fmla="val 3273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160520" y="2148840"/>
            <a:ext cx="822960" cy="82296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74490" y="2362810"/>
            <a:ext cx="395021" cy="39502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29184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Recognize</a:t>
            </a:r>
            <a:endParaRPr lang="en-US" sz="1900" dirty="0"/>
          </a:p>
        </p:txBody>
      </p:sp>
      <p:sp>
        <p:nvSpPr>
          <p:cNvPr id="15" name="Text 11"/>
          <p:cNvSpPr/>
          <p:nvPr/>
        </p:nvSpPr>
        <p:spPr>
          <a:xfrm>
            <a:off x="347472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neural net identifies the object</a:t>
            </a:r>
            <a:endParaRPr lang="en-US" sz="1250" dirty="0"/>
          </a:p>
        </p:txBody>
      </p:sp>
      <p:sp>
        <p:nvSpPr>
          <p:cNvPr id="16" name="Shape 12"/>
          <p:cNvSpPr/>
          <p:nvPr/>
        </p:nvSpPr>
        <p:spPr>
          <a:xfrm>
            <a:off x="6126480" y="1874520"/>
            <a:ext cx="2560320" cy="2514600"/>
          </a:xfrm>
          <a:prstGeom prst="roundRect">
            <a:avLst>
              <a:gd name="adj" fmla="val 3273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995160" y="2148840"/>
            <a:ext cx="822960" cy="82296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9130" y="2362810"/>
            <a:ext cx="395021" cy="39502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126480" y="310896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Act</a:t>
            </a:r>
            <a:endParaRPr lang="en-US" sz="1900" dirty="0"/>
          </a:p>
        </p:txBody>
      </p:sp>
      <p:sp>
        <p:nvSpPr>
          <p:cNvPr id="20" name="Text 15"/>
          <p:cNvSpPr/>
          <p:nvPr/>
        </p:nvSpPr>
        <p:spPr>
          <a:xfrm>
            <a:off x="6309360" y="3611880"/>
            <a:ext cx="21945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 picks it up and sorts it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week at a glance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1280160" y="2157984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950976" y="1828800"/>
            <a:ext cx="658368" cy="658368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950976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0292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02920" y="31089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+ photograph objects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596896" y="1828800"/>
            <a:ext cx="658368" cy="658368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Text 9"/>
          <p:cNvSpPr/>
          <p:nvPr/>
        </p:nvSpPr>
        <p:spPr>
          <a:xfrm>
            <a:off x="2596896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214884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Tue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148840" y="31089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neural net: digits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242816" y="1828800"/>
            <a:ext cx="658368" cy="658368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4242816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79476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3794760" y="31089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your object recognizer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5888736" y="1828800"/>
            <a:ext cx="658368" cy="658368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9" name="Text 17"/>
          <p:cNvSpPr/>
          <p:nvPr/>
        </p:nvSpPr>
        <p:spPr>
          <a:xfrm>
            <a:off x="5888736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544068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Thu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5440680" y="31089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Shrink it for tiny hardware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34656" y="1828800"/>
            <a:ext cx="658368" cy="658368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Text 21"/>
          <p:cNvSpPr/>
          <p:nvPr/>
        </p:nvSpPr>
        <p:spPr>
          <a:xfrm>
            <a:off x="7534656" y="182880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086600" y="26974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Fri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7086600" y="3108960"/>
            <a:ext cx="15544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to the robot + showcase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the week runs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2057400"/>
          </a:xfrm>
          <a:prstGeom prst="roundRect">
            <a:avLst>
              <a:gd name="adj" fmla="val 4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94944" y="23271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460285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person — Mon &amp; Fri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71600" y="2011680"/>
            <a:ext cx="2834640" cy="1101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Hands-on in the lab: meet the arm today, deploy Friday.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3931920" cy="2057400"/>
          </a:xfrm>
          <a:prstGeom prst="roundRect">
            <a:avLst>
              <a:gd name="adj" fmla="val 4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992624" y="232714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460285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Remote — Tue–Thu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669280" y="2011680"/>
            <a:ext cx="2834640" cy="110185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&amp; train from your laptop; heavy training runs on our GPU server.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840480"/>
            <a:ext cx="8229600" cy="777240"/>
          </a:xfrm>
          <a:prstGeom prst="roundRect">
            <a:avLst>
              <a:gd name="adj" fmla="val 10588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731520" y="3840480"/>
            <a:ext cx="76809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trick: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test your model on your own webcam midweek, so it's ready to run on the real arm Friday.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big idea: machine learning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1874520"/>
          </a:xfrm>
          <a:prstGeom prst="roundRect">
            <a:avLst>
              <a:gd name="adj" fmla="val 439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94944" y="22357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368845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Classic programming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71600" y="2011680"/>
            <a:ext cx="2834640" cy="974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write every rule by hand. Hopeless for messy things like images.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3931920" cy="1874520"/>
          </a:xfrm>
          <a:prstGeom prst="roundRect">
            <a:avLst>
              <a:gd name="adj" fmla="val 439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992624" y="22357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368845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669280" y="2011680"/>
            <a:ext cx="2834640" cy="974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show examples; it learns the rules itself.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857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week: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you'll teach by example, not by rules. Tuesday goes deep on exactly how that works.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job: the eyes and the brain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 already moves and grips. You give it something to recognize.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3931920" cy="2560320"/>
          </a:xfrm>
          <a:prstGeom prst="roundRect">
            <a:avLst>
              <a:gd name="adj" fmla="val 3214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4944" y="28072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9403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11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 build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40280"/>
            <a:ext cx="2834640" cy="160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photos · train a recognizer · test it on your own webcam.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783080"/>
            <a:ext cx="3931920" cy="2560320"/>
          </a:xfrm>
          <a:prstGeom prst="roundRect">
            <a:avLst>
              <a:gd name="adj" fmla="val 3214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992624" y="28072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9403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9110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Handled for you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240280"/>
            <a:ext cx="2834640" cy="160343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arm's movement &amp; grip · the camera capture · cropping the object.</a:t>
            </a:r>
            <a:endParaRPr lang="en-US" sz="11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Meet the Hardware</a:t>
            </a:r>
            <a:endParaRPr lang="en-US" sz="4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robotic arm: ArmPi Ultra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6-DOF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precise joints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0876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Wrist cam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2900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sees the object up close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50876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12648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 5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its own onboard computer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Shape 13"/>
          <p:cNvSpPr/>
          <p:nvPr/>
        </p:nvSpPr>
        <p:spPr>
          <a:xfrm>
            <a:off x="777240" y="3401568"/>
            <a:ext cx="640080" cy="64008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3661" y="3567989"/>
            <a:ext cx="307238" cy="30723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1645920" y="3200400"/>
            <a:ext cx="676656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already knows how to move, grip, and place. </a:t>
            </a: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job: give it your neural net for eyes.</a:t>
            </a:r>
            <a:endParaRPr lang="en-US" sz="14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0920" y="2596896"/>
            <a:ext cx="365760" cy="292608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Bonus: a self-driving car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AI ideas, far more horsepower — a peek at where edge AI goes.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371600" y="2743200"/>
            <a:ext cx="585216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1325880" y="2514600"/>
            <a:ext cx="457200" cy="4572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640080" y="302666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3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3099816" y="2459736"/>
            <a:ext cx="566928" cy="566928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0" name="Text 8"/>
          <p:cNvSpPr/>
          <p:nvPr/>
        </p:nvSpPr>
        <p:spPr>
          <a:xfrm>
            <a:off x="2468880" y="3081528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4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873752" y="2404872"/>
            <a:ext cx="676656" cy="676656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297680" y="3136392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 5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297680" y="3465576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(arm)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606540" y="2308860"/>
            <a:ext cx="868680" cy="86868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5" name="Text 13"/>
          <p:cNvSpPr/>
          <p:nvPr/>
        </p:nvSpPr>
        <p:spPr>
          <a:xfrm>
            <a:off x="6126480" y="3232404"/>
            <a:ext cx="18288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Jetson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126480" y="3561588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(car)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 Set Up</a:t>
            </a:r>
            <a:endParaRPr lang="en-US" sz="4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Getting online, step by step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installing today — it's all in your browser.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36829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69264" y="20574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9264" y="2057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the link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0998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any browser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61104" y="20574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4261104" y="2057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749040" y="2770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 in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3703320" y="30998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account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552944" y="2057400"/>
            <a:ext cx="621792" cy="621792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7552944" y="2057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7040880" y="2770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 cell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995160" y="30998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coding!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EF08418-774E-E99E-BCFA-F1F0FDEC73C3}"/>
              </a:ext>
            </a:extLst>
          </p:cNvPr>
          <p:cNvSpPr txBox="1"/>
          <p:nvPr/>
        </p:nvSpPr>
        <p:spPr>
          <a:xfrm>
            <a:off x="762000" y="3092450"/>
            <a:ext cx="4855560" cy="150810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Camp Hub Web Page:</a:t>
            </a:r>
          </a:p>
          <a:p>
            <a:r>
              <a:rPr lang="en-US" dirty="0">
                <a:hlinkClick r:id="rId2"/>
              </a:rPr>
              <a:t>https://www.cs.umb.edu/~shengbo/camp</a:t>
            </a:r>
            <a:endParaRPr lang="en-US" dirty="0"/>
          </a:p>
          <a:p>
            <a:endParaRPr lang="en-US" dirty="0"/>
          </a:p>
          <a:p>
            <a:r>
              <a:rPr lang="en-US" dirty="0"/>
              <a:t>Bookmark this — start here every day</a:t>
            </a:r>
          </a:p>
          <a:p>
            <a:r>
              <a:rPr lang="en-US" dirty="0"/>
              <a:t>It opens </a:t>
            </a:r>
            <a:r>
              <a:rPr lang="en-US" dirty="0" err="1"/>
              <a:t>JupyterHub</a:t>
            </a:r>
            <a:r>
              <a:rPr lang="en-US" dirty="0"/>
              <a:t> and posts each morning's lab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0526F84A-35F6-C1BD-1C46-786F52C956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1500" y="3092450"/>
            <a:ext cx="1460500" cy="14605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688F0EA3-61F2-0C4F-A550-53EDB711108A}"/>
              </a:ext>
            </a:extLst>
          </p:cNvPr>
          <p:cNvSpPr txBox="1"/>
          <p:nvPr/>
        </p:nvSpPr>
        <p:spPr>
          <a:xfrm>
            <a:off x="762000" y="812800"/>
            <a:ext cx="2217145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/>
              <a:t>Lab PC login</a:t>
            </a:r>
          </a:p>
          <a:p>
            <a:r>
              <a:rPr lang="en-US" dirty="0"/>
              <a:t>Username: </a:t>
            </a:r>
            <a:r>
              <a:rPr lang="en-US" dirty="0" err="1"/>
              <a:t>csguest</a:t>
            </a:r>
            <a:endParaRPr lang="en-US" dirty="0"/>
          </a:p>
          <a:p>
            <a:r>
              <a:rPr lang="en-US" dirty="0"/>
              <a:t>Password:umbcs2026</a:t>
            </a:r>
          </a:p>
        </p:txBody>
      </p:sp>
    </p:spTree>
    <p:extLst>
      <p:ext uri="{BB962C8B-B14F-4D97-AF65-F5344CB8AC3E}">
        <p14:creationId xmlns:p14="http://schemas.microsoft.com/office/powerpoint/2010/main" val="197028738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workspace: JupyterHub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our link, log in, and everything's already there.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7863840" cy="1051560"/>
          </a:xfrm>
          <a:prstGeom prst="roundRect">
            <a:avLst>
              <a:gd name="adj" fmla="val 782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96112" y="1609344"/>
            <a:ext cx="74066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https://</a:t>
            </a:r>
            <a:r>
              <a:rPr lang="en-US" sz="1400" dirty="0" err="1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camp.brown-hue.ts.net</a:t>
            </a: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
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log in: your first name + class password
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57200" y="2697480"/>
            <a:ext cx="3931920" cy="1508760"/>
          </a:xfrm>
          <a:prstGeom prst="roundRect">
            <a:avLst>
              <a:gd name="adj" fmla="val 5455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Shape 7"/>
          <p:cNvSpPr/>
          <p:nvPr/>
        </p:nvSpPr>
        <p:spPr>
          <a:xfrm>
            <a:off x="694944" y="319582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3328965"/>
            <a:ext cx="245791" cy="245791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2825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Nothing to install</a:t>
            </a:r>
            <a:endParaRPr lang="en-US" sz="1450" dirty="0"/>
          </a:p>
        </p:txBody>
      </p:sp>
      <p:sp>
        <p:nvSpPr>
          <p:cNvPr id="12" name="Text 9"/>
          <p:cNvSpPr/>
          <p:nvPr/>
        </p:nvSpPr>
        <p:spPr>
          <a:xfrm>
            <a:off x="1371600" y="31546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Python, the GPU, and every lab are already set up for you.</a:t>
            </a:r>
            <a:endParaRPr lang="en-US" sz="1150" dirty="0"/>
          </a:p>
        </p:txBody>
      </p:sp>
      <p:sp>
        <p:nvSpPr>
          <p:cNvPr id="13" name="Shape 10"/>
          <p:cNvSpPr/>
          <p:nvPr/>
        </p:nvSpPr>
        <p:spPr>
          <a:xfrm>
            <a:off x="4754880" y="2697480"/>
            <a:ext cx="3931920" cy="1508760"/>
          </a:xfrm>
          <a:prstGeom prst="roundRect">
            <a:avLst>
              <a:gd name="adj" fmla="val 5455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4" name="Shape 11"/>
          <p:cNvSpPr/>
          <p:nvPr/>
        </p:nvSpPr>
        <p:spPr>
          <a:xfrm>
            <a:off x="4992624" y="319582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3328965"/>
            <a:ext cx="245791" cy="245791"/>
          </a:xfrm>
          <a:prstGeom prst="rect">
            <a:avLst/>
          </a:prstGeom>
        </p:spPr>
      </p:pic>
      <p:sp>
        <p:nvSpPr>
          <p:cNvPr id="16" name="Text 12"/>
          <p:cNvSpPr/>
          <p:nvPr/>
        </p:nvSpPr>
        <p:spPr>
          <a:xfrm>
            <a:off x="5669280" y="2825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Works from anywhere</a:t>
            </a:r>
            <a:endParaRPr lang="en-US" sz="1450" dirty="0"/>
          </a:p>
        </p:txBody>
      </p:sp>
      <p:sp>
        <p:nvSpPr>
          <p:cNvPr id="17" name="Text 13"/>
          <p:cNvSpPr/>
          <p:nvPr/>
        </p:nvSpPr>
        <p:spPr>
          <a:xfrm>
            <a:off x="5669280" y="315468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link from home on Tue–Thu — all you need is a browser.</a:t>
            </a:r>
            <a:endParaRPr lang="en-US" sz="11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What's a notebook?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friendly way to write Python — code in little runnable boxes.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46304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4944" y="16642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7973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59105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Code lives in cells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2024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cell is a small box of code you can run on its own.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94944" y="267004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280318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5968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and see instantly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292608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Shift+Enter; the result appears right below the cell.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47472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94944" y="367588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8081" y="380902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60273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Perfect for learning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393192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something, run it again, and watch what happens.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Run your first cell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this into a cell and press Shift+Enter.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600200"/>
            <a:ext cx="7863840" cy="1737360"/>
          </a:xfrm>
          <a:prstGeom prst="roundRect">
            <a:avLst>
              <a:gd name="adj" fmla="val 4737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96112" y="1746504"/>
            <a:ext cx="7406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your first cell
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print('hello, camp!’)
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hello, camp!
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611880"/>
            <a:ext cx="7863840" cy="777240"/>
          </a:xfrm>
          <a:prstGeom prst="roundRect">
            <a:avLst>
              <a:gd name="adj" fmla="val 10588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3611880"/>
            <a:ext cx="7315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the message under the cell?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You're in and ready. If anything's off, grab a mentor.</a:t>
            </a:r>
            <a:endParaRPr lang="en-US" sz="13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Python Warm-Up</a:t>
            </a:r>
            <a:endParaRPr lang="en-US" sz="40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Python?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language of AI — and it reads almost like English.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54480"/>
            <a:ext cx="3931920" cy="1874520"/>
          </a:xfrm>
          <a:prstGeom prst="roundRect">
            <a:avLst>
              <a:gd name="adj" fmla="val 439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4944" y="22357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3688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runs the AI world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011680"/>
            <a:ext cx="2834640" cy="974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PyTorch, the tools you'll use all week — all Python.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754880" y="1554480"/>
            <a:ext cx="3931920" cy="1874520"/>
          </a:xfrm>
          <a:prstGeom prst="roundRect">
            <a:avLst>
              <a:gd name="adj" fmla="val 439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4992624" y="22357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5761" y="236884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66928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Easy to read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5669280" y="2011680"/>
            <a:ext cx="2834640" cy="9742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and beginner-friendly — you'll pick it up fast.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657600"/>
            <a:ext cx="8229600" cy="868680"/>
          </a:xfrm>
          <a:prstGeom prst="roundRect">
            <a:avLst>
              <a:gd name="adj" fmla="val 9474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3"/>
          <p:cNvSpPr/>
          <p:nvPr/>
        </p:nvSpPr>
        <p:spPr>
          <a:xfrm>
            <a:off x="731520" y="3657600"/>
            <a:ext cx="7680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only need the basics: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lists, loops, and functions. Let's warm up — right in JupyterHub.</a:t>
            </a:r>
            <a:endParaRPr lang="en-US" sz="13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1: variables &amp; printing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 values, then show them.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7863840" cy="1920240"/>
          </a:xfrm>
          <a:prstGeom prst="roundRect">
            <a:avLst>
              <a:gd name="adj" fmla="val 428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96112" y="1700784"/>
            <a:ext cx="74066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 = "Ada"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age = 16
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print("Hi", name)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print(name, "is", age, "years old")
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703320"/>
            <a:ext cx="7863840" cy="685800"/>
          </a:xfrm>
          <a:prstGeom prst="roundRect">
            <a:avLst>
              <a:gd name="adj" fmla="val 12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3703320"/>
            <a:ext cx="73152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variable is a labeled box.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shows what's inside.</a:t>
            </a:r>
            <a:endParaRPr lang="en-US" sz="13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2: lists &amp; loops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many values, then visit each one.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7863840" cy="2148840"/>
          </a:xfrm>
          <a:prstGeom prst="roundRect">
            <a:avLst>
              <a:gd name="adj" fmla="val 3830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96112" y="1700784"/>
            <a:ext cx="7406640" cy="1874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scores = [88, 92, 75, 95]
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s in scores: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print(s)
</a:t>
            </a:r>
            <a:endParaRPr lang="en-US" sz="140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40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print("best:", max(scores))
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7863840" cy="548640"/>
          </a:xfrm>
          <a:prstGeom prst="roundRect">
            <a:avLst>
              <a:gd name="adj" fmla="val 15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repeats code for every item in a list.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3: functions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Package code you can reuse — the self-check from the class page.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7863840" cy="2240280"/>
          </a:xfrm>
          <a:prstGeom prst="roundRect">
            <a:avLst>
              <a:gd name="adj" fmla="val 3673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Text 5"/>
          <p:cNvSpPr/>
          <p:nvPr/>
        </p:nvSpPr>
        <p:spPr>
          <a:xfrm>
            <a:off x="896112" y="1655064"/>
            <a:ext cx="7406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evens(numbers):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[n for n in numbers if n % 2 == 0]
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E2E8F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print(evens([1, 2, 3, 4, 5, 6]))
</a:t>
            </a:r>
            <a:endParaRPr lang="en-US" sz="1350" dirty="0"/>
          </a:p>
          <a:p>
            <a:pPr marL="0" indent="0" algn="l">
              <a:lnSpc>
                <a:spcPct val="11500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-&gt; [2, 4, 6]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640080" y="3931920"/>
            <a:ext cx="7863840" cy="548640"/>
          </a:xfrm>
          <a:prstGeom prst="roundRect">
            <a:avLst>
              <a:gd name="adj" fmla="val 15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914400" y="39319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function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takes input, does work, and returns a result.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Your turn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Try these on your own — mentors are circulating.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4944" y="16642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17973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367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A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659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list of your 3 favorite foods and print each one with a loop.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94944" y="262432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75746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5968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Warm-up B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29260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returns the largest number in a list (no using max).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42900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94944" y="35844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371758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557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Stretch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38862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 a function that counts how many words are in a sentence.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 Your Data</a:t>
            </a:r>
            <a:endParaRPr lang="en-US" sz="4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we're photographing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handful of everyday objects the arm will learn to recognize and sort.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82880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4944" y="202996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8081" y="216310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9568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few distinct objects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228600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e.g., a mug, a marker, a small toy — different in shape and texture, not just color.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880360"/>
            <a:ext cx="8229600" cy="914400"/>
          </a:xfrm>
          <a:prstGeom prst="roundRect">
            <a:avLst>
              <a:gd name="adj" fmla="val 9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94944" y="308152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81" y="321466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30083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…and “nothing”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3337560"/>
            <a:ext cx="7132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photograph the empty table and clutter, so the arm won't grab when nothing's there.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makes good training photos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is only as good as these.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1286" y="1605686"/>
            <a:ext cx="263347" cy="2633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280160" y="1444752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Variety wins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1280160" y="1755648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angles, distances, and lighting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548640" y="2212848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91286" y="2355494"/>
            <a:ext cx="263347" cy="263347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280160" y="2194560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About 40–60 per object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1280160" y="2505456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Enough for the model to spot patterns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2962656"/>
            <a:ext cx="548640" cy="548640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91286" y="3105302"/>
            <a:ext cx="263347" cy="263347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280160" y="2944368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Fill the frame</a:t>
            </a:r>
            <a:endParaRPr lang="en-US" sz="1500" dirty="0"/>
          </a:p>
        </p:txBody>
      </p:sp>
      <p:sp>
        <p:nvSpPr>
          <p:cNvPr id="17" name="Text 12"/>
          <p:cNvSpPr/>
          <p:nvPr/>
        </p:nvSpPr>
        <p:spPr>
          <a:xfrm>
            <a:off x="1280160" y="3255264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Center the object, keep it clear</a:t>
            </a:r>
            <a:endParaRPr lang="en-US" sz="1150" dirty="0"/>
          </a:p>
        </p:txBody>
      </p:sp>
      <p:sp>
        <p:nvSpPr>
          <p:cNvPr id="18" name="Shape 13"/>
          <p:cNvSpPr/>
          <p:nvPr/>
        </p:nvSpPr>
        <p:spPr>
          <a:xfrm>
            <a:off x="548640" y="3712464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91286" y="3855110"/>
            <a:ext cx="263347" cy="263347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1280160" y="3694176"/>
            <a:ext cx="44805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Match Friday</a:t>
            </a:r>
            <a:endParaRPr lang="en-US" sz="1500" dirty="0"/>
          </a:p>
        </p:txBody>
      </p:sp>
      <p:sp>
        <p:nvSpPr>
          <p:cNvPr id="21" name="Text 15"/>
          <p:cNvSpPr/>
          <p:nvPr/>
        </p:nvSpPr>
        <p:spPr>
          <a:xfrm>
            <a:off x="1280160" y="4005072"/>
            <a:ext cx="4663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background &amp; lighting to the demo</a:t>
            </a:r>
            <a:endParaRPr lang="en-US" sz="1150" dirty="0"/>
          </a:p>
        </p:txBody>
      </p:sp>
      <p:sp>
        <p:nvSpPr>
          <p:cNvPr id="22" name="Shape 16"/>
          <p:cNvSpPr/>
          <p:nvPr/>
        </p:nvSpPr>
        <p:spPr>
          <a:xfrm>
            <a:off x="6263640" y="1463040"/>
            <a:ext cx="2423160" cy="2880360"/>
          </a:xfrm>
          <a:prstGeom prst="roundRect">
            <a:avLst>
              <a:gd name="adj" fmla="val 339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3" name="Shape 17"/>
          <p:cNvSpPr/>
          <p:nvPr/>
        </p:nvSpPr>
        <p:spPr>
          <a:xfrm>
            <a:off x="6537960" y="1691640"/>
            <a:ext cx="548640" cy="54864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680606" y="1834286"/>
            <a:ext cx="263347" cy="263347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6446520" y="23317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Rule of thumb</a:t>
            </a:r>
            <a:endParaRPr lang="en-US" sz="1500" dirty="0"/>
          </a:p>
        </p:txBody>
      </p:sp>
      <p:sp>
        <p:nvSpPr>
          <p:cNvPr id="26" name="Text 19"/>
          <p:cNvSpPr/>
          <p:nvPr/>
        </p:nvSpPr>
        <p:spPr>
          <a:xfrm>
            <a:off x="6446520" y="2743200"/>
            <a:ext cx="21031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photo would confuse you, it'll confuse the model.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collect!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in pairs at the capture station.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1280160" y="2368296"/>
            <a:ext cx="6583680" cy="0"/>
          </a:xfrm>
          <a:prstGeom prst="line">
            <a:avLst/>
          </a:prstGeom>
          <a:noFill/>
          <a:ln w="19050">
            <a:solidFill>
              <a:srgbClr val="CBD5E1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969264" y="20574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8" name="Text 6"/>
          <p:cNvSpPr/>
          <p:nvPr/>
        </p:nvSpPr>
        <p:spPr>
          <a:xfrm>
            <a:off x="969264" y="2057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2770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 up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" y="30998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 on the table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63824" y="20574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3163824" y="2057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2651760" y="2770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Capture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2606040" y="30998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many angles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358384" y="20574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4"/>
          <p:cNvSpPr/>
          <p:nvPr/>
        </p:nvSpPr>
        <p:spPr>
          <a:xfrm>
            <a:off x="5358384" y="2057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4846320" y="2770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Shuffle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800600" y="30998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&amp; relight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7552944" y="2057400"/>
            <a:ext cx="621792" cy="621792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20" name="Text 18"/>
          <p:cNvSpPr/>
          <p:nvPr/>
        </p:nvSpPr>
        <p:spPr>
          <a:xfrm>
            <a:off x="7552944" y="205740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7040880" y="2770632"/>
            <a:ext cx="16459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Repeat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6995160" y="3099816"/>
            <a:ext cx="1737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object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6400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77824" y="8778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85800" y="1920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kern="0" spc="300" dirty="0">
                <a:solidFill>
                  <a:srgbClr val="22D3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640080" y="2286000"/>
            <a:ext cx="7955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Images are numbers</a:t>
            </a:r>
            <a:endParaRPr lang="en-US" sz="40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Grayscale vs. color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554480"/>
            <a:ext cx="3931920" cy="1874520"/>
          </a:xfrm>
          <a:prstGeom prst="roundRect">
            <a:avLst>
              <a:gd name="adj" fmla="val 439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Shape 4"/>
          <p:cNvSpPr/>
          <p:nvPr/>
        </p:nvSpPr>
        <p:spPr>
          <a:xfrm>
            <a:off x="694944" y="22357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1" y="2368845"/>
            <a:ext cx="245791" cy="2457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7160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Grayscale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71600" y="2011680"/>
            <a:ext cx="2834640" cy="94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number per pixel — how bright it is, 0 (black) up to 255 (white).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754880" y="1554480"/>
            <a:ext cx="3931920" cy="1874520"/>
          </a:xfrm>
          <a:prstGeom prst="roundRect">
            <a:avLst>
              <a:gd name="adj" fmla="val 439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1" name="Shape 8"/>
          <p:cNvSpPr/>
          <p:nvPr/>
        </p:nvSpPr>
        <p:spPr>
          <a:xfrm>
            <a:off x="4992624" y="223570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5761" y="2368845"/>
            <a:ext cx="245791" cy="24579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1682496"/>
            <a:ext cx="2834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669280" y="2011680"/>
            <a:ext cx="2834640" cy="94191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numbers per pixel — red, green, and blue mixed together.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457200" y="3657600"/>
            <a:ext cx="8229600" cy="960120"/>
          </a:xfrm>
          <a:prstGeom prst="roundRect">
            <a:avLst>
              <a:gd name="adj" fmla="val 8571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6" name="Text 12"/>
          <p:cNvSpPr/>
          <p:nvPr/>
        </p:nvSpPr>
        <p:spPr>
          <a:xfrm>
            <a:off x="731520" y="3657600"/>
            <a:ext cx="768096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short: </a:t>
            </a:r>
            <a:r>
              <a:rPr lang="en-US" sz="13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picture is just a grid of numbers — that's all your model ever sees.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numbers add up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800" dirty="0"/>
          </a:p>
        </p:txBody>
      </p:sp>
      <p:sp>
        <p:nvSpPr>
          <p:cNvPr id="5" name="Shape 3"/>
          <p:cNvSpPr/>
          <p:nvPr/>
        </p:nvSpPr>
        <p:spPr>
          <a:xfrm>
            <a:off x="457200" y="150876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6" name="Text 4"/>
          <p:cNvSpPr/>
          <p:nvPr/>
        </p:nvSpPr>
        <p:spPr>
          <a:xfrm>
            <a:off x="45720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0–255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9436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bright one pixel is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91840" y="150876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9" name="Text 7"/>
          <p:cNvSpPr/>
          <p:nvPr/>
        </p:nvSpPr>
        <p:spPr>
          <a:xfrm>
            <a:off x="329184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28×28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342900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 = 784 numbers (Tue)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508760"/>
            <a:ext cx="2560320" cy="1417320"/>
          </a:xfrm>
          <a:prstGeom prst="roundRect">
            <a:avLst>
              <a:gd name="adj" fmla="val 5806"/>
            </a:avLst>
          </a:prstGeom>
          <a:solidFill>
            <a:srgbClr val="FFFF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Text 10"/>
          <p:cNvSpPr/>
          <p:nvPr/>
        </p:nvSpPr>
        <p:spPr>
          <a:xfrm>
            <a:off x="6126480" y="1645920"/>
            <a:ext cx="25603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000" b="1" dirty="0">
                <a:solidFill>
                  <a:srgbClr val="0891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×3</a:t>
            </a:r>
            <a:endParaRPr lang="en-US" sz="3000" dirty="0"/>
          </a:p>
        </p:txBody>
      </p:sp>
      <p:sp>
        <p:nvSpPr>
          <p:cNvPr id="13" name="Text 11"/>
          <p:cNvSpPr/>
          <p:nvPr/>
        </p:nvSpPr>
        <p:spPr>
          <a:xfrm>
            <a:off x="6263640" y="2331720"/>
            <a:ext cx="2286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color adds R, G, B per pixel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457200" y="3200400"/>
            <a:ext cx="8229600" cy="1051560"/>
          </a:xfrm>
          <a:prstGeom prst="roundRect">
            <a:avLst>
              <a:gd name="adj" fmla="val 7826"/>
            </a:avLst>
          </a:prstGeom>
          <a:solidFill>
            <a:srgbClr val="0F1B2D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Text 14"/>
          <p:cNvSpPr/>
          <p:nvPr/>
        </p:nvSpPr>
        <p:spPr>
          <a:xfrm>
            <a:off x="777240" y="3200400"/>
            <a:ext cx="763524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model never sees “a mug” — </a:t>
            </a:r>
            <a:r>
              <a:rPr lang="en-US" sz="1450" b="1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this grid of numbers, and it learns the pattern.</a:t>
            </a:r>
            <a:endParaRPr lang="en-US" sz="14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it: images are numbers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Section 6 in your notebook — mentors are circulating.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4944" y="16642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1" y="17973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367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Draw it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659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§6 to watch the 8×8 numbers become a face, then change a pixel.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94944" y="262432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1" y="275746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5968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Brighten it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29260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to every pixel to make the face lighter, subtract to darken (To-do 6b).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42900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94944" y="35844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1" y="371758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557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it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38862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photo negative: 9 − v for every pixel (To-do 6c).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a picture from numbers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Section 6 of the notebook.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33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4944" y="16642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1" y="17973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367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Print it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659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the 8×8 grid cell — see the numbers, then see them drawn as a face.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94944" y="262432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1" y="275746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5968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29260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0s and 9s to draw your own picture; brighten it (To-do 6b).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42900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94944" y="35844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1" y="371758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557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Flip it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38862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a negative: 9 − v for every pixel (To-do 6c).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7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Lab: real images with NumPy</a:t>
            </a:r>
            <a:endParaRPr lang="en-US" sz="2700" dirty="0"/>
          </a:p>
        </p:txBody>
      </p:sp>
      <p:sp>
        <p:nvSpPr>
          <p:cNvPr id="3" name="Text 1"/>
          <p:cNvSpPr/>
          <p:nvPr/>
        </p:nvSpPr>
        <p:spPr>
          <a:xfrm>
            <a:off x="457200" y="1024128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 7 — if you did Week 1 (uses NumPy).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457200" y="4846320"/>
            <a:ext cx="5486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kern="0" spc="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· KICKOFF</a:t>
            </a:r>
            <a:endParaRPr lang="en-US" sz="800" dirty="0"/>
          </a:p>
        </p:txBody>
      </p:sp>
      <p:sp>
        <p:nvSpPr>
          <p:cNvPr id="5" name="Text 3"/>
          <p:cNvSpPr/>
          <p:nvPr/>
        </p:nvSpPr>
        <p:spPr>
          <a:xfrm>
            <a:off x="8321040" y="4846320"/>
            <a:ext cx="3657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457200" y="150876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7" name="Shape 5"/>
          <p:cNvSpPr/>
          <p:nvPr/>
        </p:nvSpPr>
        <p:spPr>
          <a:xfrm>
            <a:off x="694944" y="166420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1" y="1797345"/>
            <a:ext cx="245791" cy="245791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371600" y="163677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Load it</a:t>
            </a:r>
            <a:endParaRPr lang="en-US" sz="1450" dirty="0"/>
          </a:p>
        </p:txBody>
      </p:sp>
      <p:sp>
        <p:nvSpPr>
          <p:cNvPr id="10" name="Text 7"/>
          <p:cNvSpPr/>
          <p:nvPr/>
        </p:nvSpPr>
        <p:spPr>
          <a:xfrm>
            <a:off x="1371600" y="196596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 loads as an 8×8 NumPy array — the numbers you met in Week 1.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457200" y="246888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ECFEFF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2" name="Shape 9"/>
          <p:cNvSpPr/>
          <p:nvPr/>
        </p:nvSpPr>
        <p:spPr>
          <a:xfrm>
            <a:off x="694944" y="2624328"/>
            <a:ext cx="512064" cy="512064"/>
          </a:xfrm>
          <a:prstGeom prst="ellipse">
            <a:avLst/>
          </a:prstGeom>
          <a:solidFill>
            <a:srgbClr val="F59E0B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1" y="2757465"/>
            <a:ext cx="245791" cy="245791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1371600" y="259689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Edit it</a:t>
            </a:r>
            <a:endParaRPr lang="en-US" sz="1450" dirty="0"/>
          </a:p>
        </p:txBody>
      </p:sp>
      <p:sp>
        <p:nvSpPr>
          <p:cNvPr id="15" name="Text 11"/>
          <p:cNvSpPr/>
          <p:nvPr/>
        </p:nvSpPr>
        <p:spPr>
          <a:xfrm>
            <a:off x="1371600" y="292608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Brightness = add · crop = slice · invert = 16 − img, all array math.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457200" y="3429000"/>
            <a:ext cx="8229600" cy="822960"/>
          </a:xfrm>
          <a:prstGeom prst="roundRect">
            <a:avLst>
              <a:gd name="adj" fmla="val 10000"/>
            </a:avLst>
          </a:prstGeom>
          <a:solidFill>
            <a:srgbClr val="F1F5F9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sp>
        <p:nvSpPr>
          <p:cNvPr id="17" name="Shape 13"/>
          <p:cNvSpPr/>
          <p:nvPr/>
        </p:nvSpPr>
        <p:spPr>
          <a:xfrm>
            <a:off x="694944" y="3584448"/>
            <a:ext cx="512064" cy="512064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18" name="Image 2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8081" y="3717585"/>
            <a:ext cx="245791" cy="24579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371600" y="3557016"/>
            <a:ext cx="71323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5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Color it</a:t>
            </a:r>
            <a:endParaRPr lang="en-US" sz="1450" dirty="0"/>
          </a:p>
        </p:txBody>
      </p:sp>
      <p:sp>
        <p:nvSpPr>
          <p:cNvPr id="20" name="Text 15"/>
          <p:cNvSpPr/>
          <p:nvPr/>
        </p:nvSpPr>
        <p:spPr>
          <a:xfrm>
            <a:off x="1371600" y="3886200"/>
            <a:ext cx="7132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photo is (height, width, 3): R, G, B. Zero out a channel and look.</a:t>
            </a:r>
            <a:endParaRPr lang="en-US" sz="11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F1B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0" y="868680"/>
            <a:ext cx="914400" cy="914400"/>
          </a:xfrm>
          <a:prstGeom prst="ellipse">
            <a:avLst/>
          </a:prstGeom>
          <a:solidFill>
            <a:srgbClr val="0891B2"/>
          </a:solidFill>
          <a:ln/>
          <a:effectLst>
            <a:outerShdw blurRad="88900" dist="38100" dir="54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2544" y="1106424"/>
            <a:ext cx="438912" cy="438912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24028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You're set up. Now the fun begins.</a:t>
            </a:r>
            <a:endParaRPr lang="en-US" sz="3400" dirty="0"/>
          </a:p>
        </p:txBody>
      </p:sp>
      <p:sp>
        <p:nvSpPr>
          <p:cNvPr id="5" name="Text 2"/>
          <p:cNvSpPr/>
          <p:nvPr/>
        </p:nvSpPr>
        <p:spPr>
          <a:xfrm>
            <a:off x="914400" y="3337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22D3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Tomorrow (remote): how machines actually learn.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1188</TotalTime>
  <Words>2526</Words>
  <Application>Microsoft Macintosh PowerPoint</Application>
  <PresentationFormat>On-screen Show (16:9)</PresentationFormat>
  <Paragraphs>358</Paragraphs>
  <Slides>36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0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Monday — Kickoff &amp; Setup</dc:title>
  <dc:subject>PptxGenJS Presentation</dc:subject>
  <dc:creator>PptxGenJS</dc:creator>
  <cp:lastModifiedBy>Bo Sheng</cp:lastModifiedBy>
  <cp:revision>1</cp:revision>
  <dcterms:created xsi:type="dcterms:W3CDTF">2026-07-23T01:26:11Z</dcterms:created>
  <dcterms:modified xsi:type="dcterms:W3CDTF">2026-08-03T15:41:14Z</dcterms:modified>
</cp:coreProperties>
</file>